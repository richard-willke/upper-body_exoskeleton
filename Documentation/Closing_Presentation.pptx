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16"/>
  </p:notesMasterIdLst>
  <p:handoutMasterIdLst>
    <p:handoutMasterId r:id="rId17"/>
  </p:handoutMasterIdLst>
  <p:sldIdLst>
    <p:sldId id="355" r:id="rId7"/>
    <p:sldId id="396" r:id="rId8"/>
    <p:sldId id="397" r:id="rId9"/>
    <p:sldId id="399" r:id="rId10"/>
    <p:sldId id="398" r:id="rId11"/>
    <p:sldId id="403" r:id="rId12"/>
    <p:sldId id="400" r:id="rId13"/>
    <p:sldId id="401" r:id="rId14"/>
    <p:sldId id="402" r:id="rId15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 Willke" initials="RW" lastIdx="1" clrIdx="0">
    <p:extLst>
      <p:ext uri="{19B8F6BF-5375-455C-9EA6-DF929625EA0E}">
        <p15:presenceInfo xmlns:p15="http://schemas.microsoft.com/office/powerpoint/2012/main" userId="485dca44eec1a5b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503" autoAdjust="0"/>
  </p:normalViewPr>
  <p:slideViewPr>
    <p:cSldViewPr snapToGrid="0">
      <p:cViewPr varScale="1">
        <p:scale>
          <a:sx n="108" d="100"/>
          <a:sy n="108" d="100"/>
        </p:scale>
        <p:origin x="184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2-07T16:41:10.618" idx="1">
    <p:pos x="4883" y="1807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07/02/2024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07/02/2024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593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Picking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/ </a:t>
            </a:r>
            <a:r>
              <a:rPr lang="de-DE" dirty="0" err="1"/>
              <a:t>Grasping</a:t>
            </a:r>
            <a:r>
              <a:rPr lang="de-DE" dirty="0"/>
              <a:t> </a:t>
            </a:r>
            <a:r>
              <a:rPr lang="de-DE" dirty="0" err="1"/>
              <a:t>action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Goal: </a:t>
            </a:r>
            <a:r>
              <a:rPr lang="de-DE" dirty="0" err="1"/>
              <a:t>Helping</a:t>
            </a:r>
            <a:r>
              <a:rPr lang="de-DE" dirty="0"/>
              <a:t> People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muscular</a:t>
            </a:r>
            <a:r>
              <a:rPr lang="de-DE" dirty="0"/>
              <a:t> </a:t>
            </a:r>
            <a:r>
              <a:rPr lang="de-DE" dirty="0" err="1"/>
              <a:t>distrophy</a:t>
            </a:r>
            <a:r>
              <a:rPr lang="de-DE" dirty="0"/>
              <a:t> 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9824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2 </a:t>
            </a:r>
            <a:r>
              <a:rPr lang="de-DE" dirty="0" err="1"/>
              <a:t>DoF</a:t>
            </a:r>
            <a:r>
              <a:rPr lang="de-DE" dirty="0"/>
              <a:t> </a:t>
            </a:r>
            <a:r>
              <a:rPr lang="de-DE" dirty="0" err="1"/>
              <a:t>exoskeleton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muscular</a:t>
            </a:r>
            <a:r>
              <a:rPr lang="de-DE" dirty="0"/>
              <a:t>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Elbow Flexion and Extension &amp; </a:t>
            </a:r>
            <a:r>
              <a:rPr lang="de-DE" dirty="0" err="1"/>
              <a:t>Wrist</a:t>
            </a:r>
            <a:r>
              <a:rPr lang="de-DE" dirty="0"/>
              <a:t> Pronation / Supination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contributers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task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Continuos </a:t>
            </a:r>
            <a:r>
              <a:rPr lang="de-DE" dirty="0" err="1"/>
              <a:t>assistance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scenario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Activity triggered assistance for second scenario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Requirements: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en-GB" dirty="0"/>
              <a:t>Ease of use 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en-GB" dirty="0"/>
              <a:t>Reliability 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en-GB" dirty="0"/>
              <a:t>Comfort 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en-GB" dirty="0"/>
              <a:t>Realtime capable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527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265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D6BD-3047-FB63-CEE6-176E0E10A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7171BEF-C70D-B734-728D-4FEF69C6D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1FC4AEF-3326-4FA4-3BD1-F610D818A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4CFDF5-0F1D-E868-7CB6-8024E6B81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58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Using</a:t>
            </a:r>
            <a:r>
              <a:rPr lang="de-DE" dirty="0"/>
              <a:t> Force Sensors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Control Modes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Sensors </a:t>
            </a:r>
            <a:r>
              <a:rPr lang="de-DE" dirty="0" err="1"/>
              <a:t>located</a:t>
            </a:r>
            <a:r>
              <a:rPr lang="de-DE" dirty="0"/>
              <a:t> </a:t>
            </a:r>
            <a:r>
              <a:rPr lang="de-DE" dirty="0" err="1"/>
              <a:t>along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outer</a:t>
            </a:r>
            <a:r>
              <a:rPr lang="de-DE" dirty="0"/>
              <a:t> </a:t>
            </a:r>
            <a:r>
              <a:rPr lang="de-DE" dirty="0" err="1"/>
              <a:t>knuckles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hand</a:t>
            </a:r>
            <a:r>
              <a:rPr lang="de-DE" dirty="0"/>
              <a:t> and </a:t>
            </a:r>
            <a:r>
              <a:rPr lang="de-DE" dirty="0" err="1"/>
              <a:t>inner</a:t>
            </a:r>
            <a:r>
              <a:rPr lang="de-DE" dirty="0"/>
              <a:t> / </a:t>
            </a:r>
            <a:r>
              <a:rPr lang="de-DE" dirty="0" err="1"/>
              <a:t>outer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lower</a:t>
            </a:r>
            <a:r>
              <a:rPr lang="de-DE" dirty="0"/>
              <a:t> arm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Used to calculate the wrench for both motions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353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954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‹Nr.›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‹Nr.›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dirty="0"/>
              <a:t>Lingfeng </a:t>
            </a:r>
            <a:r>
              <a:rPr lang="de-DE" dirty="0" err="1"/>
              <a:t>Gu</a:t>
            </a:r>
            <a:r>
              <a:rPr lang="de-DE" dirty="0"/>
              <a:t>, Richard Willke Nikolas </a:t>
            </a:r>
            <a:r>
              <a:rPr lang="de-DE" dirty="0" err="1"/>
              <a:t>Kaarsberg</a:t>
            </a:r>
            <a:endParaRPr lang="de-DE" dirty="0"/>
          </a:p>
          <a:p>
            <a:r>
              <a:rPr lang="de-DE" dirty="0"/>
              <a:t>Technische Universität München</a:t>
            </a:r>
          </a:p>
          <a:p>
            <a:r>
              <a:rPr lang="de-DE" dirty="0"/>
              <a:t>TUM </a:t>
            </a:r>
            <a:r>
              <a:rPr lang="en-GB" dirty="0"/>
              <a:t>School of Computation, Information and Technology</a:t>
            </a:r>
            <a:endParaRPr lang="de-DE" dirty="0"/>
          </a:p>
          <a:p>
            <a:r>
              <a:rPr lang="de-DE" dirty="0"/>
              <a:t>Institute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Congitive</a:t>
            </a:r>
            <a:r>
              <a:rPr lang="de-DE" dirty="0"/>
              <a:t> Systems</a:t>
            </a:r>
          </a:p>
          <a:p>
            <a:r>
              <a:rPr lang="de-DE" dirty="0"/>
              <a:t>Munich, 9. </a:t>
            </a:r>
            <a:r>
              <a:rPr lang="de-DE" dirty="0" err="1"/>
              <a:t>January</a:t>
            </a:r>
            <a:r>
              <a:rPr lang="de-DE" dirty="0"/>
              <a:t> 2024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820738"/>
          </a:xfrm>
        </p:spPr>
        <p:txBody>
          <a:bodyPr/>
          <a:lstStyle/>
          <a:p>
            <a:r>
              <a:rPr lang="de-DE" dirty="0" err="1"/>
              <a:t>Practical</a:t>
            </a:r>
            <a:r>
              <a:rPr lang="de-DE" dirty="0"/>
              <a:t> Course Wearable Robotics</a:t>
            </a:r>
            <a:br>
              <a:rPr lang="de-DE" dirty="0"/>
            </a:br>
            <a:r>
              <a:rPr lang="de-DE" dirty="0"/>
              <a:t>Group 2: </a:t>
            </a:r>
            <a:r>
              <a:rPr lang="de-DE" dirty="0" err="1"/>
              <a:t>Wrist</a:t>
            </a:r>
            <a:r>
              <a:rPr lang="de-DE" dirty="0"/>
              <a:t> Pronation / Supination</a:t>
            </a:r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B544BEA-A39E-709B-63FE-0510B0C9D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Use Case –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? </a:t>
            </a:r>
            <a:r>
              <a:rPr lang="de-DE" dirty="0" err="1"/>
              <a:t>Which</a:t>
            </a:r>
            <a:r>
              <a:rPr lang="de-DE" dirty="0"/>
              <a:t> Scenarios? 				- Lingfeng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Approach –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DoF</a:t>
            </a:r>
            <a:r>
              <a:rPr lang="de-DE" dirty="0"/>
              <a:t>?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goals</a:t>
            </a:r>
            <a:r>
              <a:rPr lang="de-DE" dirty="0"/>
              <a:t> (</a:t>
            </a:r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, </a:t>
            </a:r>
            <a:r>
              <a:rPr lang="de-DE" dirty="0" err="1"/>
              <a:t>activity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)?	- Lingfeng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Mechanical</a:t>
            </a:r>
            <a:r>
              <a:rPr lang="de-DE" dirty="0"/>
              <a:t> Design						- Nikolas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Control / </a:t>
            </a:r>
            <a:r>
              <a:rPr lang="de-DE" dirty="0" err="1"/>
              <a:t>Sensing</a:t>
            </a:r>
            <a:r>
              <a:rPr lang="de-DE" dirty="0"/>
              <a:t>						- Richard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Future Work – How much did we fuck up?				- Richard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Priorities: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Force </a:t>
            </a:r>
            <a:r>
              <a:rPr lang="de-DE" dirty="0" err="1"/>
              <a:t>sensor</a:t>
            </a:r>
            <a:r>
              <a:rPr lang="de-DE" dirty="0"/>
              <a:t> </a:t>
            </a:r>
            <a:r>
              <a:rPr lang="de-DE" dirty="0" err="1"/>
              <a:t>placement</a:t>
            </a: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EMG </a:t>
            </a:r>
            <a:r>
              <a:rPr lang="de-DE" dirty="0" err="1"/>
              <a:t>integration</a:t>
            </a: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PRESENTATION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 err="1"/>
              <a:t>Documentation</a:t>
            </a:r>
            <a:r>
              <a:rPr lang="en-GB" dirty="0"/>
              <a:t>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212822C-E89D-A595-670E-78423D1D88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B8AD08-5D95-FB66-838C-83A1486C42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B185AA9-28E4-F6B2-739B-174F7EFE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Structuring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578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B2A1CFA-8527-9592-0E57-239BAB2C438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Scenarios: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Picking </a:t>
            </a:r>
            <a:r>
              <a:rPr lang="de-DE" dirty="0" err="1"/>
              <a:t>up</a:t>
            </a:r>
            <a:r>
              <a:rPr lang="de-DE" dirty="0"/>
              <a:t> Cup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people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fast </a:t>
            </a:r>
            <a:r>
              <a:rPr lang="de-DE" dirty="0" err="1"/>
              <a:t>muscular</a:t>
            </a:r>
            <a:r>
              <a:rPr lang="de-DE" dirty="0"/>
              <a:t> </a:t>
            </a:r>
            <a:r>
              <a:rPr lang="de-DE" dirty="0" err="1"/>
              <a:t>fatigue</a:t>
            </a:r>
            <a:r>
              <a:rPr lang="de-DE" dirty="0"/>
              <a:t> 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Learning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picking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motion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people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impaired</a:t>
            </a:r>
            <a:r>
              <a:rPr lang="de-DE" dirty="0"/>
              <a:t> </a:t>
            </a:r>
            <a:r>
              <a:rPr lang="de-DE" dirty="0" err="1"/>
              <a:t>RoM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9912C03-806C-0973-2C3A-11B62D71E9C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726EF5F-0A90-51A1-5266-5B564768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Case </a:t>
            </a:r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CBE8825-1E7B-7A6A-3C55-D2DE0395114B}"/>
              </a:ext>
            </a:extLst>
          </p:cNvPr>
          <p:cNvPicPr>
            <a:picLocks noGrp="1" noChangeAspect="1" noChangeArrowheads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24" y="4560418"/>
            <a:ext cx="20193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03B597C-7D20-FDBC-4D17-C30806026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209" y="857250"/>
            <a:ext cx="24574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CEB66A9-45CC-AC3D-5A7B-A90A5F917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887" y="2708834"/>
            <a:ext cx="246697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5CE189C1-A8E4-1361-7EBD-E5208CD3E9E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11162" y="6473313"/>
            <a:ext cx="6866252" cy="365125"/>
          </a:xfrm>
        </p:spPr>
        <p:txBody>
          <a:bodyPr/>
          <a:lstStyle/>
          <a:p>
            <a:r>
              <a:rPr lang="de-DE" dirty="0"/>
              <a:t>Lingfeng </a:t>
            </a:r>
            <a:r>
              <a:rPr lang="de-DE" dirty="0" err="1"/>
              <a:t>Gu</a:t>
            </a:r>
            <a:r>
              <a:rPr lang="de-DE" dirty="0"/>
              <a:t>, Richard Willke, Nikolas </a:t>
            </a:r>
            <a:r>
              <a:rPr lang="de-DE" dirty="0" err="1"/>
              <a:t>Kaarsberg</a:t>
            </a:r>
            <a:r>
              <a:rPr lang="de-DE" dirty="0"/>
              <a:t> | Wearable Robotics | </a:t>
            </a:r>
            <a:r>
              <a:rPr lang="de-DE" dirty="0" err="1"/>
              <a:t>Wrist</a:t>
            </a:r>
            <a:r>
              <a:rPr lang="de-DE" dirty="0"/>
              <a:t> Pronation &amp; Supination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87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A18246E5-091F-69D2-2AEA-BD8BF85C93D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19090" y="1785933"/>
            <a:ext cx="4180910" cy="4687380"/>
          </a:xfrm>
        </p:spPr>
        <p:txBody>
          <a:bodyPr/>
          <a:lstStyle/>
          <a:p>
            <a:r>
              <a:rPr lang="de-DE" dirty="0"/>
              <a:t>Main Motion </a:t>
            </a:r>
            <a:r>
              <a:rPr lang="de-DE" dirty="0" err="1"/>
              <a:t>Contributers</a:t>
            </a:r>
            <a:r>
              <a:rPr lang="de-DE" dirty="0"/>
              <a:t>: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Elbow Flexion / Extension 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 err="1"/>
              <a:t>Wrist</a:t>
            </a:r>
            <a:r>
              <a:rPr lang="de-DE" dirty="0"/>
              <a:t> Pronation / Supination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0" lvl="1" indent="0">
              <a:buNone/>
            </a:pPr>
            <a:r>
              <a:rPr lang="de-DE" dirty="0" err="1"/>
              <a:t>Assistive</a:t>
            </a:r>
            <a:r>
              <a:rPr lang="de-DE" dirty="0"/>
              <a:t> Modes:</a:t>
            </a:r>
          </a:p>
          <a:p>
            <a:pPr marL="469900" lvl="2" indent="-285750">
              <a:buFont typeface="Arial" panose="020B0604020202020204" pitchFamily="34" charset="0"/>
              <a:buChar char="•"/>
            </a:pPr>
            <a:r>
              <a:rPr lang="de-DE" dirty="0" err="1"/>
              <a:t>Continuous</a:t>
            </a:r>
            <a:r>
              <a:rPr lang="de-DE" dirty="0"/>
              <a:t> Assistance </a:t>
            </a:r>
          </a:p>
          <a:p>
            <a:pPr marL="469900" lvl="2" indent="-285750">
              <a:buFont typeface="Arial" panose="020B0604020202020204" pitchFamily="34" charset="0"/>
              <a:buChar char="•"/>
            </a:pPr>
            <a:r>
              <a:rPr lang="de-DE" dirty="0" err="1"/>
              <a:t>Activity</a:t>
            </a:r>
            <a:r>
              <a:rPr lang="de-DE" dirty="0"/>
              <a:t> </a:t>
            </a:r>
            <a:r>
              <a:rPr lang="de-DE" dirty="0" err="1"/>
              <a:t>Triggered</a:t>
            </a:r>
            <a:r>
              <a:rPr lang="de-DE" dirty="0"/>
              <a:t> </a:t>
            </a:r>
          </a:p>
          <a:p>
            <a:pPr marL="469900" lvl="2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0" lvl="1" indent="0">
              <a:buNone/>
            </a:pPr>
            <a:r>
              <a:rPr lang="de-DE" dirty="0" err="1"/>
              <a:t>Requirements</a:t>
            </a:r>
            <a:r>
              <a:rPr lang="de-DE" dirty="0"/>
              <a:t>:</a:t>
            </a:r>
          </a:p>
          <a:p>
            <a:pPr marL="469900" lvl="2" indent="-285750">
              <a:buFont typeface="Arial" panose="020B0604020202020204" pitchFamily="34" charset="0"/>
              <a:buChar char="•"/>
            </a:pPr>
            <a:r>
              <a:rPr lang="de-DE" dirty="0" err="1"/>
              <a:t>Ease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use</a:t>
            </a:r>
            <a:endParaRPr lang="de-DE" dirty="0"/>
          </a:p>
          <a:p>
            <a:pPr marL="469900" lvl="2" indent="-285750">
              <a:buFont typeface="Arial" panose="020B0604020202020204" pitchFamily="34" charset="0"/>
              <a:buChar char="•"/>
            </a:pPr>
            <a:r>
              <a:rPr lang="de-DE" dirty="0" err="1"/>
              <a:t>Reliability</a:t>
            </a:r>
            <a:r>
              <a:rPr lang="de-DE" dirty="0"/>
              <a:t> </a:t>
            </a:r>
          </a:p>
          <a:p>
            <a:pPr marL="469900" lvl="2" indent="-285750">
              <a:buFont typeface="Arial" panose="020B0604020202020204" pitchFamily="34" charset="0"/>
              <a:buChar char="•"/>
            </a:pPr>
            <a:r>
              <a:rPr lang="de-DE" dirty="0"/>
              <a:t>Comfort </a:t>
            </a:r>
          </a:p>
          <a:p>
            <a:pPr marL="469900" lvl="2" indent="-285750">
              <a:buFont typeface="Arial" panose="020B0604020202020204" pitchFamily="34" charset="0"/>
              <a:buChar char="•"/>
            </a:pPr>
            <a:r>
              <a:rPr lang="de-DE" dirty="0"/>
              <a:t>Realtime </a:t>
            </a:r>
            <a:r>
              <a:rPr lang="de-DE" dirty="0" err="1"/>
              <a:t>Capable</a:t>
            </a:r>
            <a:r>
              <a:rPr lang="de-DE" dirty="0"/>
              <a:t>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DAE1422-AE2B-6EAE-73EF-5AD85EB5FD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B78D1AF2-11A2-5F83-F3E8-30A3565184A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11162" y="6473313"/>
            <a:ext cx="6866252" cy="365125"/>
          </a:xfrm>
        </p:spPr>
        <p:txBody>
          <a:bodyPr/>
          <a:lstStyle/>
          <a:p>
            <a:r>
              <a:rPr lang="de-DE" dirty="0"/>
              <a:t>Lingfeng </a:t>
            </a:r>
            <a:r>
              <a:rPr lang="de-DE" dirty="0" err="1"/>
              <a:t>Gu</a:t>
            </a:r>
            <a:r>
              <a:rPr lang="de-DE" dirty="0"/>
              <a:t>, Richard Willke, Nikolas </a:t>
            </a:r>
            <a:r>
              <a:rPr lang="de-DE" dirty="0" err="1"/>
              <a:t>Kaarsberg</a:t>
            </a:r>
            <a:r>
              <a:rPr lang="de-DE" dirty="0"/>
              <a:t> | Wearable Robotics | </a:t>
            </a:r>
            <a:r>
              <a:rPr lang="de-DE" dirty="0" err="1"/>
              <a:t>Wrist</a:t>
            </a:r>
            <a:r>
              <a:rPr lang="de-DE" dirty="0"/>
              <a:t> Pronation &amp; Supination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4EBCFA1-6010-9843-1B8D-7898440F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Approach</a:t>
            </a:r>
            <a:endParaRPr lang="en-GB" dirty="0"/>
          </a:p>
        </p:txBody>
      </p:sp>
      <p:pic>
        <p:nvPicPr>
          <p:cNvPr id="17" name="Inhaltsplatzhalter 16">
            <a:extLst>
              <a:ext uri="{FF2B5EF4-FFF2-40B4-BE49-F238E27FC236}">
                <a16:creationId xmlns:a16="http://schemas.microsoft.com/office/drawing/2014/main" id="{0373DA41-4B5B-D7AA-446C-93CE6D2C1E2C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3"/>
          <a:srcRect l="24577" t="20213" r="31088" b="21074"/>
          <a:stretch/>
        </p:blipFill>
        <p:spPr>
          <a:xfrm>
            <a:off x="4015293" y="2029217"/>
            <a:ext cx="4540046" cy="3382027"/>
          </a:xfrm>
        </p:spPr>
      </p:pic>
    </p:spTree>
    <p:extLst>
      <p:ext uri="{BB962C8B-B14F-4D97-AF65-F5344CB8AC3E}">
        <p14:creationId xmlns:p14="http://schemas.microsoft.com/office/powerpoint/2010/main" val="1623195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D62353A-D992-DEEB-D64B-CCE1AF8AE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1AC11F6-87A3-1656-D745-B5D66185C7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DF6C3D-6F38-B108-7869-81DAB67FDE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1" y="6473313"/>
            <a:ext cx="7630339" cy="365125"/>
          </a:xfrm>
        </p:spPr>
        <p:txBody>
          <a:bodyPr/>
          <a:lstStyle/>
          <a:p>
            <a:r>
              <a:rPr lang="de-DE" dirty="0"/>
              <a:t>Lingfeng </a:t>
            </a:r>
            <a:r>
              <a:rPr lang="de-DE" dirty="0" err="1"/>
              <a:t>Gu</a:t>
            </a:r>
            <a:r>
              <a:rPr lang="de-DE" dirty="0"/>
              <a:t>, Richard Willke, Nikolas </a:t>
            </a:r>
            <a:r>
              <a:rPr lang="de-DE" dirty="0" err="1"/>
              <a:t>Kaarsberg</a:t>
            </a:r>
            <a:r>
              <a:rPr lang="de-DE" dirty="0"/>
              <a:t> | Wearable Robotics | </a:t>
            </a:r>
            <a:r>
              <a:rPr lang="de-DE" dirty="0" err="1"/>
              <a:t>Wrist</a:t>
            </a:r>
            <a:r>
              <a:rPr lang="de-DE" dirty="0"/>
              <a:t> Pronation &amp; Supination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FD7F4DF-C180-732D-5534-12D95E68D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Mechanical</a:t>
            </a:r>
            <a:r>
              <a:rPr lang="de-DE" dirty="0"/>
              <a:t> Design</a:t>
            </a:r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D782D62-EBE0-0E12-6495-C2B1B52DB7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561" t="11114" r="5435" b="24631"/>
          <a:stretch/>
        </p:blipFill>
        <p:spPr>
          <a:xfrm>
            <a:off x="3460371" y="3861237"/>
            <a:ext cx="5097704" cy="219333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15B1478-3531-B6A4-6F05-E593F8D3B0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182" r="5436" b="17800"/>
          <a:stretch/>
        </p:blipFill>
        <p:spPr>
          <a:xfrm>
            <a:off x="3460372" y="1750635"/>
            <a:ext cx="5097704" cy="181992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809832B-EF42-97AD-66E6-1C11DDC99B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321" t="24261" r="9095" b="10609"/>
          <a:stretch/>
        </p:blipFill>
        <p:spPr>
          <a:xfrm rot="5400000">
            <a:off x="-204013" y="2869367"/>
            <a:ext cx="4290728" cy="207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38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BA4F1-DB23-5DC0-2BBC-57C0D868C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8501ED0-2901-EA66-BD56-C6CB552EF5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48C834CF-9EA3-C4E5-FC62-3BB09859DF5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11162" y="6473313"/>
            <a:ext cx="6866252" cy="365125"/>
          </a:xfrm>
        </p:spPr>
        <p:txBody>
          <a:bodyPr/>
          <a:lstStyle/>
          <a:p>
            <a:r>
              <a:rPr lang="de-DE" dirty="0"/>
              <a:t>Lingfeng </a:t>
            </a:r>
            <a:r>
              <a:rPr lang="de-DE" dirty="0" err="1"/>
              <a:t>Gu</a:t>
            </a:r>
            <a:r>
              <a:rPr lang="de-DE" dirty="0"/>
              <a:t>, Richard Willke, Nikolas </a:t>
            </a:r>
            <a:r>
              <a:rPr lang="de-DE" dirty="0" err="1"/>
              <a:t>Kaarsberg</a:t>
            </a:r>
            <a:r>
              <a:rPr lang="de-DE" dirty="0"/>
              <a:t> | Wearable Robotics | </a:t>
            </a:r>
            <a:r>
              <a:rPr lang="de-DE" dirty="0" err="1"/>
              <a:t>Wrist</a:t>
            </a:r>
            <a:r>
              <a:rPr lang="de-DE" dirty="0"/>
              <a:t> Pronation &amp; Supination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E2EB1E6-CB23-7158-EF4A-5CB332E5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Controls and </a:t>
            </a:r>
            <a:r>
              <a:rPr lang="de-DE" dirty="0" err="1"/>
              <a:t>Sensing</a:t>
            </a:r>
            <a:endParaRPr lang="en-GB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02E168-33F9-C049-6C66-EF7539DC76F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10D2497-B018-FB9B-177A-B424E1C0365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618C3D4-BC27-41B7-CEF5-1896C0514815}"/>
              </a:ext>
            </a:extLst>
          </p:cNvPr>
          <p:cNvSpPr txBox="1"/>
          <p:nvPr/>
        </p:nvSpPr>
        <p:spPr>
          <a:xfrm>
            <a:off x="1545249" y="2159601"/>
            <a:ext cx="1728592" cy="25725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de-DE" sz="1600" dirty="0">
                <a:solidFill>
                  <a:schemeClr val="bg1"/>
                </a:solidFill>
                <a:latin typeface="+mn-lt"/>
              </a:rPr>
              <a:t>ESP32exo.ino</a:t>
            </a:r>
            <a:endParaRPr lang="en-GB" sz="1600" dirty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B9D30A3-5703-8F8D-BED8-375F05AA1DA4}"/>
              </a:ext>
            </a:extLst>
          </p:cNvPr>
          <p:cNvSpPr txBox="1"/>
          <p:nvPr/>
        </p:nvSpPr>
        <p:spPr>
          <a:xfrm>
            <a:off x="1405132" y="3953838"/>
            <a:ext cx="2008827" cy="25725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de-DE" sz="1600" dirty="0">
                <a:solidFill>
                  <a:schemeClr val="bg1"/>
                </a:solidFill>
                <a:latin typeface="+mn-lt"/>
              </a:rPr>
              <a:t>open_serial_port.py</a:t>
            </a:r>
            <a:endParaRPr lang="en-GB" sz="1600" dirty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4575F28-9421-0D9E-5EB8-D8333D438D2F}"/>
              </a:ext>
            </a:extLst>
          </p:cNvPr>
          <p:cNvSpPr txBox="1"/>
          <p:nvPr/>
        </p:nvSpPr>
        <p:spPr>
          <a:xfrm>
            <a:off x="1405132" y="5748075"/>
            <a:ext cx="2008827" cy="25725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de-DE" sz="1600" dirty="0">
                <a:solidFill>
                  <a:schemeClr val="bg1"/>
                </a:solidFill>
                <a:latin typeface="+mn-lt"/>
              </a:rPr>
              <a:t>exo_control.py</a:t>
            </a:r>
            <a:endParaRPr lang="en-GB" sz="1600" dirty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8A9FC90-274D-906D-724F-7ACB5193DB40}"/>
              </a:ext>
            </a:extLst>
          </p:cNvPr>
          <p:cNvSpPr txBox="1"/>
          <p:nvPr/>
        </p:nvSpPr>
        <p:spPr>
          <a:xfrm>
            <a:off x="4726607" y="2159601"/>
            <a:ext cx="1728592" cy="25725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de-DE" sz="1600" dirty="0" err="1">
                <a:solidFill>
                  <a:schemeClr val="bg1"/>
                </a:solidFill>
                <a:latin typeface="+mn-lt"/>
              </a:rPr>
              <a:t>triggeredControl</a:t>
            </a:r>
            <a:endParaRPr lang="en-GB" sz="1600" dirty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5683B70-FBD8-DA0F-790D-213C186844E8}"/>
              </a:ext>
            </a:extLst>
          </p:cNvPr>
          <p:cNvSpPr txBox="1"/>
          <p:nvPr/>
        </p:nvSpPr>
        <p:spPr>
          <a:xfrm>
            <a:off x="4721746" y="3953838"/>
            <a:ext cx="1728592" cy="25725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de-DE" sz="1600" dirty="0" err="1">
                <a:solidFill>
                  <a:schemeClr val="bg1"/>
                </a:solidFill>
                <a:latin typeface="+mn-lt"/>
              </a:rPr>
              <a:t>exoControl</a:t>
            </a:r>
            <a:endParaRPr lang="en-GB" sz="1600" dirty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53CC8CA-594B-1725-80C9-476D550A33D3}"/>
              </a:ext>
            </a:extLst>
          </p:cNvPr>
          <p:cNvSpPr txBox="1"/>
          <p:nvPr/>
        </p:nvSpPr>
        <p:spPr>
          <a:xfrm>
            <a:off x="4726607" y="4211088"/>
            <a:ext cx="1723731" cy="1380121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__</a:t>
            </a:r>
            <a:r>
              <a:rPr lang="de-DE" sz="1600" dirty="0" err="1">
                <a:latin typeface="+mn-lt"/>
              </a:rPr>
              <a:t>init</a:t>
            </a:r>
            <a:r>
              <a:rPr lang="de-DE" sz="1600" dirty="0">
                <a:latin typeface="+mn-lt"/>
              </a:rPr>
              <a:t>__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deg2rad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rad2deg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latin typeface="+mn-lt"/>
              </a:rPr>
              <a:t>checkRange</a:t>
            </a:r>
            <a:endParaRPr lang="de-DE" sz="1600" dirty="0">
              <a:latin typeface="+mn-lt"/>
            </a:endParaRP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latin typeface="+mn-lt"/>
              </a:rPr>
              <a:t>control_loop</a:t>
            </a:r>
            <a:endParaRPr lang="en-GB" sz="1600" dirty="0" err="1">
              <a:latin typeface="+mn-lt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6391B37-246A-9F53-7723-230434B3F915}"/>
              </a:ext>
            </a:extLst>
          </p:cNvPr>
          <p:cNvSpPr txBox="1"/>
          <p:nvPr/>
        </p:nvSpPr>
        <p:spPr>
          <a:xfrm>
            <a:off x="4726607" y="2405418"/>
            <a:ext cx="1723731" cy="818686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__</a:t>
            </a:r>
            <a:r>
              <a:rPr lang="de-DE" sz="1600" dirty="0" err="1">
                <a:latin typeface="+mn-lt"/>
              </a:rPr>
              <a:t>init</a:t>
            </a:r>
            <a:r>
              <a:rPr lang="de-DE" sz="1600" dirty="0">
                <a:latin typeface="+mn-lt"/>
              </a:rPr>
              <a:t>__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deg2rad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assist_loop2</a:t>
            </a:r>
            <a:endParaRPr lang="en-GB" sz="16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6890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F5FECE9F-73DA-2E54-0A16-6F6F942151D9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1555770" y="2133510"/>
            <a:ext cx="2797617" cy="3730156"/>
          </a:xfr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984107F-9425-7BAE-EE54-58681BDD04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D1EC176-8E3C-D28A-6C5F-B5A74E3748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11162" y="6473313"/>
            <a:ext cx="6866252" cy="365125"/>
          </a:xfrm>
        </p:spPr>
        <p:txBody>
          <a:bodyPr/>
          <a:lstStyle/>
          <a:p>
            <a:r>
              <a:rPr lang="de-DE" dirty="0"/>
              <a:t>Lingfeng </a:t>
            </a:r>
            <a:r>
              <a:rPr lang="de-DE" dirty="0" err="1"/>
              <a:t>Gu</a:t>
            </a:r>
            <a:r>
              <a:rPr lang="de-DE" dirty="0"/>
              <a:t>, Richard Willke, Nikolas </a:t>
            </a:r>
            <a:r>
              <a:rPr lang="de-DE" dirty="0" err="1"/>
              <a:t>Kaarsberg</a:t>
            </a:r>
            <a:r>
              <a:rPr lang="de-DE" dirty="0"/>
              <a:t> | Wearable Robotics | </a:t>
            </a:r>
            <a:r>
              <a:rPr lang="de-DE" dirty="0" err="1"/>
              <a:t>Wrist</a:t>
            </a:r>
            <a:r>
              <a:rPr lang="de-DE" dirty="0"/>
              <a:t> Pronation &amp; Supination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DAD3084-9AB0-D11F-B9A9-48E747E1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Controls and </a:t>
            </a:r>
            <a:r>
              <a:rPr lang="de-DE" dirty="0" err="1"/>
              <a:t>Sensing</a:t>
            </a:r>
            <a:endParaRPr lang="en-GB" dirty="0"/>
          </a:p>
        </p:txBody>
      </p:sp>
      <p:pic>
        <p:nvPicPr>
          <p:cNvPr id="16" name="Inhaltsplatzhalter 15">
            <a:extLst>
              <a:ext uri="{FF2B5EF4-FFF2-40B4-BE49-F238E27FC236}">
                <a16:creationId xmlns:a16="http://schemas.microsoft.com/office/drawing/2014/main" id="{D974B815-CEA3-7FB1-1BDC-84CD9D7A376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4"/>
          <a:stretch>
            <a:fillRect/>
          </a:stretch>
        </p:blipFill>
        <p:spPr>
          <a:xfrm>
            <a:off x="4790612" y="2133510"/>
            <a:ext cx="2797618" cy="3730157"/>
          </a:xfr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ED8BD8C5-2F14-CDB7-8CB9-EAD8797DDE88}"/>
              </a:ext>
            </a:extLst>
          </p:cNvPr>
          <p:cNvSpPr/>
          <p:nvPr/>
        </p:nvSpPr>
        <p:spPr>
          <a:xfrm>
            <a:off x="2655518" y="4484318"/>
            <a:ext cx="726509" cy="6889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GB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8BDB3C5-4D24-2480-51B9-B0D2FC39728F}"/>
              </a:ext>
            </a:extLst>
          </p:cNvPr>
          <p:cNvSpPr/>
          <p:nvPr/>
        </p:nvSpPr>
        <p:spPr>
          <a:xfrm>
            <a:off x="3534427" y="3682605"/>
            <a:ext cx="726509" cy="6889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GB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C43F538-9720-5624-2EFB-3B9011D0C716}"/>
              </a:ext>
            </a:extLst>
          </p:cNvPr>
          <p:cNvSpPr/>
          <p:nvPr/>
        </p:nvSpPr>
        <p:spPr>
          <a:xfrm>
            <a:off x="5360684" y="3998588"/>
            <a:ext cx="878909" cy="748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2218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55A15F7-C619-91F5-070E-152D337B9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24628A9-A25F-1E72-7DB2-018CC22538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42D2BC3-E7F0-B4D7-B7AE-7F792829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r>
              <a:rPr lang="de-DE" dirty="0"/>
              <a:t> and Future Work</a:t>
            </a:r>
            <a:endParaRPr lang="en-GB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57442A58-7034-8A64-37ED-7109D1DB32D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1" y="6473313"/>
            <a:ext cx="7630339" cy="365125"/>
          </a:xfrm>
        </p:spPr>
        <p:txBody>
          <a:bodyPr/>
          <a:lstStyle/>
          <a:p>
            <a:r>
              <a:rPr lang="de-DE" dirty="0"/>
              <a:t>Lingfeng </a:t>
            </a:r>
            <a:r>
              <a:rPr lang="de-DE" dirty="0" err="1"/>
              <a:t>Gu</a:t>
            </a:r>
            <a:r>
              <a:rPr lang="de-DE" dirty="0"/>
              <a:t>, Richard Willke, Nikolas </a:t>
            </a:r>
            <a:r>
              <a:rPr lang="de-DE" dirty="0" err="1"/>
              <a:t>Kaarsberg</a:t>
            </a:r>
            <a:r>
              <a:rPr lang="de-DE" dirty="0"/>
              <a:t> | Wearable Robotics | </a:t>
            </a:r>
            <a:r>
              <a:rPr lang="de-DE" dirty="0" err="1"/>
              <a:t>Wrist</a:t>
            </a:r>
            <a:r>
              <a:rPr lang="de-DE" dirty="0"/>
              <a:t> Pronation &amp; Supination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67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7FDC64F-80F1-8B55-D88C-8933D4A7086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B176773-8A33-FDC1-F7A4-721DC4C30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410369"/>
          </a:xfrm>
        </p:spPr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r>
              <a:rPr lang="de-DE" dirty="0"/>
              <a:t>! </a:t>
            </a:r>
            <a:endParaRPr lang="en-GB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56F964C-88C3-8E60-F7A4-9BE36C9C16A4}"/>
              </a:ext>
            </a:extLst>
          </p:cNvPr>
          <p:cNvSpPr txBox="1">
            <a:spLocks/>
          </p:cNvSpPr>
          <p:nvPr/>
        </p:nvSpPr>
        <p:spPr>
          <a:xfrm>
            <a:off x="311161" y="6473313"/>
            <a:ext cx="763033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de-DE" dirty="0"/>
              <a:t>Lingfeng </a:t>
            </a:r>
            <a:r>
              <a:rPr lang="de-DE" dirty="0" err="1"/>
              <a:t>Gu</a:t>
            </a:r>
            <a:r>
              <a:rPr lang="de-DE" dirty="0"/>
              <a:t>, Richard Willke, Nikolas </a:t>
            </a:r>
            <a:r>
              <a:rPr lang="de-DE" dirty="0" err="1"/>
              <a:t>Kaarsberg</a:t>
            </a:r>
            <a:r>
              <a:rPr lang="de-DE" dirty="0"/>
              <a:t> | Wearable Robotics | </a:t>
            </a:r>
            <a:r>
              <a:rPr lang="de-DE" dirty="0" err="1"/>
              <a:t>Wrist</a:t>
            </a:r>
            <a:r>
              <a:rPr lang="de-DE" dirty="0"/>
              <a:t> Pronation &amp; Supination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494659"/>
      </p:ext>
    </p:extLst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2111_Praesentationsvorlage_3-4 (1)</Template>
  <TotalTime>0</TotalTime>
  <Words>457</Words>
  <Application>Microsoft Office PowerPoint</Application>
  <PresentationFormat>Bildschirmpräsentation (4:3)</PresentationFormat>
  <Paragraphs>92</Paragraphs>
  <Slides>9</Slides>
  <Notes>8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6</vt:i4>
      </vt:variant>
      <vt:variant>
        <vt:lpstr>Folientitel</vt:lpstr>
      </vt:variant>
      <vt:variant>
        <vt:i4>9</vt:i4>
      </vt:variant>
    </vt:vector>
  </HeadingPairs>
  <TitlesOfParts>
    <vt:vector size="20" baseType="lpstr">
      <vt:lpstr>Arial</vt:lpstr>
      <vt:lpstr>Calibri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Practical Course Wearable Robotics Group 2: Wrist Pronation / Supination</vt:lpstr>
      <vt:lpstr>Structuring</vt:lpstr>
      <vt:lpstr>Use Case </vt:lpstr>
      <vt:lpstr>Approach</vt:lpstr>
      <vt:lpstr>Mechanical Design</vt:lpstr>
      <vt:lpstr>Controls and Sensing</vt:lpstr>
      <vt:lpstr>Controls and Sensing</vt:lpstr>
      <vt:lpstr>Results and Future Work</vt:lpstr>
      <vt:lpstr>Thank you for your attention! 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Course Wearable Robotics Group 2: Wrist Pronation / Supination</dc:title>
  <dc:creator>Richard Willke</dc:creator>
  <cp:lastModifiedBy>Richard Willke</cp:lastModifiedBy>
  <cp:revision>3</cp:revision>
  <cp:lastPrinted>2015-07-30T14:04:45Z</cp:lastPrinted>
  <dcterms:created xsi:type="dcterms:W3CDTF">2024-02-07T15:22:27Z</dcterms:created>
  <dcterms:modified xsi:type="dcterms:W3CDTF">2024-02-08T16:46:00Z</dcterms:modified>
</cp:coreProperties>
</file>